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4" r:id="rId7"/>
    <p:sldId id="260" r:id="rId8"/>
    <p:sldId id="265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00FF"/>
    <a:srgbClr val="FF5050"/>
    <a:srgbClr val="0033CC"/>
    <a:srgbClr val="FF00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7CAF4-61DA-EF3B-D02D-DAB3EF5ED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45212E-02F8-71A8-324D-EC27EF9388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3E9DD-F7C9-E505-C42E-28891E51E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19FF3-4D90-4A46-9083-84D7E6FE98AE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67FE9-2898-E3E8-8B0F-D85246FDC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D13C5-936F-6958-53E5-3ABDC326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8CFB4-40ED-412E-908B-FED2E454B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469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FCDCF-1882-423E-DB76-66235B849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5D50E-CF89-292B-F28C-CECADAAB7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722E0-7182-3781-975F-D1ED75A46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19FF3-4D90-4A46-9083-84D7E6FE98AE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E0362-553E-0C1A-4102-054BDE44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56D6F-139B-2803-3015-CD53488F4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8CFB4-40ED-412E-908B-FED2E454B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550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F5592-F02C-248C-C25F-6540EAE9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E5DAD-0642-BEAB-4DCE-6DCACAB6F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423B5-9844-CEE5-218B-F3AA8F1FC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19FF3-4D90-4A46-9083-84D7E6FE98AE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B030F-F9B9-47A6-EA50-5FC04B253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F77B1-95FC-D215-AF2C-699485D91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8CFB4-40ED-412E-908B-FED2E454B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394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A804F-EDD7-7839-4200-2D7DFA558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70222-039F-E092-6D72-3CDF99AF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9B3C3-64A0-4165-42E5-D4ECB70CA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67348-3CBD-0B71-4DBA-4D8FA557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19FF3-4D90-4A46-9083-84D7E6FE98AE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B2C64-F5F9-2417-CBD4-EB0D3A1DA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E766B-CA8B-833F-1427-E1989562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8CFB4-40ED-412E-908B-FED2E454B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489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9EFF-3513-5E2C-05E5-F2B89CAC6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323AA-8558-2D99-19BA-2164E8E0A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9304C-3C21-9F69-7A34-EB5CAC451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C3D1CB-F4A0-EF72-E615-9B5404BA46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E41325-6A70-D118-35F7-70777A7F6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8F169E-572B-7CCD-AC4A-D9E730BA2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19FF3-4D90-4A46-9083-84D7E6FE98AE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35C038-9D26-8E7A-E1F9-A6ECAB54B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4B5E69-93A9-39FB-D8BB-6B5E5E60D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8CFB4-40ED-412E-908B-FED2E454B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432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22C53-0CDC-BA85-0094-BE52C6091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B4D531-60CF-1B99-A63C-3A7353EA6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19FF3-4D90-4A46-9083-84D7E6FE98AE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7C7D0C-AD6A-8B4A-1362-163945AF9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97B432-399C-5686-D739-6A3FA250A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8CFB4-40ED-412E-908B-FED2E454B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833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3BEEA6-B71A-9D4B-DE8C-E6FFE98D2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19FF3-4D90-4A46-9083-84D7E6FE98AE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E37A5A-6421-78B3-88B5-AD6B8750F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BB524-F941-FE35-F784-EDC371B86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8CFB4-40ED-412E-908B-FED2E454B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080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8C9C9-9FB3-7CDF-1125-2AEAFB631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3A0D5-BA25-B79D-954A-173ADFD21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85969-B9C5-E008-D45D-DB857ABBB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55AF5-9CB6-9783-FD88-8FDE3E601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19FF3-4D90-4A46-9083-84D7E6FE98AE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403D3-2DC8-FACA-2DF6-E78B29EAE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E6A75-92D2-4776-4204-EF9C482FA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8CFB4-40ED-412E-908B-FED2E454B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156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728E1-6184-0157-7E7D-70818404A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3F38AD-6D2F-9FDA-8031-15FD17347F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A6A8F-155C-A4A8-38DC-5E0D2EC19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03688-6B54-21D9-9A66-04CEFF8DC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19FF3-4D90-4A46-9083-84D7E6FE98AE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47B3F-E92F-0F02-1020-4FCF30785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73119-905B-2499-F958-8BE03C57A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8CFB4-40ED-412E-908B-FED2E454B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906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9509B-4099-30F4-06AD-EE2B88DA3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1D8048-5881-2816-55A1-157D84342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371A5-2AB2-FDCA-7408-53843FEB6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19FF3-4D90-4A46-9083-84D7E6FE98AE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5AB37-D93C-29AC-2B5A-A055917D7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B3D6C-D2B1-16D1-8206-3260484DA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8CFB4-40ED-412E-908B-FED2E454B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926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71CF92-9D27-8148-CF18-E27D7DBA69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E4140B-CA08-BDAC-4105-87B3EDA41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81C4A-6579-E69C-5C73-AE63EEE6C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19FF3-4D90-4A46-9083-84D7E6FE98AE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7183E-BEBD-2269-FFF4-D53A22B79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ABE07-AE43-570F-50DA-081C92110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8CFB4-40ED-412E-908B-FED2E454B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06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6DF93-3912-6C28-609C-D67870E46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658E6-5F17-4FDA-422E-CE1889ADC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46AFA-7A74-16C3-65E7-017780ABA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19FF3-4D90-4A46-9083-84D7E6FE98AE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CF31A-EF5D-451E-90C6-A515D6F4F4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9382F-4AB3-113B-AB44-59F8B1511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8CFB4-40ED-412E-908B-FED2E454B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380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ibyendubiswas1998/Insurance-Premium-Prediction/blob/main/artifacts/Model_Performance_Report/score.jso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44702D-C59F-EB2D-78DA-07943566F880}"/>
              </a:ext>
            </a:extLst>
          </p:cNvPr>
          <p:cNvSpPr/>
          <p:nvPr/>
        </p:nvSpPr>
        <p:spPr>
          <a:xfrm>
            <a:off x="4872251" y="2949054"/>
            <a:ext cx="6673755" cy="11179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4000" b="1" dirty="0">
                <a:solidFill>
                  <a:schemeClr val="accent1">
                    <a:lumMod val="50000"/>
                  </a:schemeClr>
                </a:solidFill>
              </a:rPr>
              <a:t>Insurance Premium Prediction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11ED1B-5074-980F-51AB-B08075125C77}"/>
              </a:ext>
            </a:extLst>
          </p:cNvPr>
          <p:cNvSpPr/>
          <p:nvPr/>
        </p:nvSpPr>
        <p:spPr>
          <a:xfrm>
            <a:off x="4872250" y="3821374"/>
            <a:ext cx="6673756" cy="682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Analysis Report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CD2BE5-27FB-D8FE-A31D-77343D04B0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40" t="15174" r="17378" b="16187"/>
          <a:stretch/>
        </p:blipFill>
        <p:spPr>
          <a:xfrm>
            <a:off x="1347015" y="2095785"/>
            <a:ext cx="3247311" cy="345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689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36C2B12-124C-461C-A904-AAB0DFFA8656}"/>
              </a:ext>
            </a:extLst>
          </p:cNvPr>
          <p:cNvSpPr/>
          <p:nvPr/>
        </p:nvSpPr>
        <p:spPr>
          <a:xfrm>
            <a:off x="6687402" y="5104263"/>
            <a:ext cx="4664943" cy="1221473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Insight: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Male are expenses more i.e., 53.14% compare to Female i.e., 46.86%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5620D7-DFC3-12A3-E092-299D0B9E57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40" t="15174" r="17378" b="16187"/>
          <a:stretch/>
        </p:blipFill>
        <p:spPr>
          <a:xfrm>
            <a:off x="11352346" y="100154"/>
            <a:ext cx="642077" cy="682387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B30D6106-02DC-D3A5-8026-1B5E2E1D5C5E}"/>
              </a:ext>
            </a:extLst>
          </p:cNvPr>
          <p:cNvGrpSpPr/>
          <p:nvPr/>
        </p:nvGrpSpPr>
        <p:grpSpPr>
          <a:xfrm>
            <a:off x="650543" y="1569855"/>
            <a:ext cx="5773005" cy="1027890"/>
            <a:chOff x="650543" y="1833625"/>
            <a:chExt cx="5773005" cy="102789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D2FE95B-DDE0-62A2-43C9-37DBC7785647}"/>
                </a:ext>
              </a:extLst>
            </p:cNvPr>
            <p:cNvGrpSpPr/>
            <p:nvPr/>
          </p:nvGrpSpPr>
          <p:grpSpPr>
            <a:xfrm>
              <a:off x="650543" y="1833625"/>
              <a:ext cx="3411941" cy="500349"/>
              <a:chOff x="518614" y="782541"/>
              <a:chExt cx="4026089" cy="500349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E254934-7785-2160-FBA4-E7D67C90EE6A}"/>
                  </a:ext>
                </a:extLst>
              </p:cNvPr>
              <p:cNvSpPr/>
              <p:nvPr/>
            </p:nvSpPr>
            <p:spPr>
              <a:xfrm>
                <a:off x="518614" y="782541"/>
                <a:ext cx="4026089" cy="500349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Male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AEBD66D-520B-8316-2E9B-FB673049839B}"/>
                  </a:ext>
                </a:extLst>
              </p:cNvPr>
              <p:cNvSpPr/>
              <p:nvPr/>
            </p:nvSpPr>
            <p:spPr>
              <a:xfrm>
                <a:off x="2661314" y="782541"/>
                <a:ext cx="1883389" cy="50034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IN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53.14%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6DC0FE3-F85B-21E9-960C-3DE175F71BF4}"/>
                </a:ext>
              </a:extLst>
            </p:cNvPr>
            <p:cNvGrpSpPr/>
            <p:nvPr/>
          </p:nvGrpSpPr>
          <p:grpSpPr>
            <a:xfrm>
              <a:off x="650543" y="1833625"/>
              <a:ext cx="5773005" cy="1027890"/>
              <a:chOff x="650543" y="1833625"/>
              <a:chExt cx="5773005" cy="102789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85E528C-363E-E6DE-B385-B909D65D46AF}"/>
                  </a:ext>
                </a:extLst>
              </p:cNvPr>
              <p:cNvSpPr/>
              <p:nvPr/>
            </p:nvSpPr>
            <p:spPr>
              <a:xfrm>
                <a:off x="650543" y="2333974"/>
                <a:ext cx="5773005" cy="527541"/>
              </a:xfrm>
              <a:prstGeom prst="rect">
                <a:avLst/>
              </a:prstGeom>
              <a:solidFill>
                <a:srgbClr val="FF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Expenses</a:t>
                </a: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8154FBFD-7C0B-BD0F-C33F-3394EA34A052}"/>
                  </a:ext>
                </a:extLst>
              </p:cNvPr>
              <p:cNvGrpSpPr/>
              <p:nvPr/>
            </p:nvGrpSpPr>
            <p:grpSpPr>
              <a:xfrm>
                <a:off x="4062484" y="1833625"/>
                <a:ext cx="2361064" cy="1020568"/>
                <a:chOff x="4062484" y="1833625"/>
                <a:chExt cx="2361064" cy="1020568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0FF2648D-7E37-E49D-1CA8-A3BCDC17A442}"/>
                    </a:ext>
                  </a:extLst>
                </p:cNvPr>
                <p:cNvGrpSpPr/>
                <p:nvPr/>
              </p:nvGrpSpPr>
              <p:grpSpPr>
                <a:xfrm>
                  <a:off x="4062484" y="1833625"/>
                  <a:ext cx="2361064" cy="500349"/>
                  <a:chOff x="518614" y="1282890"/>
                  <a:chExt cx="3166282" cy="500349"/>
                </a:xfrm>
              </p:grpSpPr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244179E5-F8C4-989C-E258-643517617E4C}"/>
                      </a:ext>
                    </a:extLst>
                  </p:cNvPr>
                  <p:cNvSpPr/>
                  <p:nvPr/>
                </p:nvSpPr>
                <p:spPr>
                  <a:xfrm>
                    <a:off x="518614" y="1282890"/>
                    <a:ext cx="3166282" cy="500349"/>
                  </a:xfrm>
                  <a:prstGeom prst="rect">
                    <a:avLst/>
                  </a:prstGeom>
                  <a:solidFill>
                    <a:srgbClr val="00B0F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IN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rPr>
                      <a:t>Female</a:t>
                    </a:r>
                  </a:p>
                </p:txBody>
              </p:sp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63EBE73F-DEEB-0CC1-1123-16E9AB2983FA}"/>
                      </a:ext>
                    </a:extLst>
                  </p:cNvPr>
                  <p:cNvSpPr/>
                  <p:nvPr/>
                </p:nvSpPr>
                <p:spPr>
                  <a:xfrm>
                    <a:off x="2279176" y="1282890"/>
                    <a:ext cx="1405720" cy="50034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r>
                      <a:rPr lang="en-IN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rPr>
                      <a:t>46.86%</a:t>
                    </a:r>
                  </a:p>
                </p:txBody>
              </p:sp>
            </p:grp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FCBCAB1A-3777-D6A7-1642-F52691485B04}"/>
                    </a:ext>
                  </a:extLst>
                </p:cNvPr>
                <p:cNvSpPr/>
                <p:nvPr/>
              </p:nvSpPr>
              <p:spPr>
                <a:xfrm>
                  <a:off x="4260376" y="2333975"/>
                  <a:ext cx="2163172" cy="52021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IN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17.76M</a:t>
                  </a:r>
                </a:p>
              </p:txBody>
            </p:sp>
          </p:grpSp>
        </p:grp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55E5B34E-3D46-EFF8-E580-9C453DE32BE9}"/>
              </a:ext>
            </a:extLst>
          </p:cNvPr>
          <p:cNvSpPr/>
          <p:nvPr/>
        </p:nvSpPr>
        <p:spPr>
          <a:xfrm>
            <a:off x="650543" y="532265"/>
            <a:ext cx="10062950" cy="5868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Expenses by Gender (Male &amp; Female):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9039705-BA1C-4EE5-8B5F-701EE28155AE}"/>
              </a:ext>
            </a:extLst>
          </p:cNvPr>
          <p:cNvGrpSpPr/>
          <p:nvPr/>
        </p:nvGrpSpPr>
        <p:grpSpPr>
          <a:xfrm>
            <a:off x="707563" y="3308644"/>
            <a:ext cx="3883356" cy="3017091"/>
            <a:chOff x="650543" y="3308644"/>
            <a:chExt cx="3883356" cy="3017091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1292314-8FB0-DF6B-9D8B-CEB7F30B2187}"/>
                </a:ext>
              </a:extLst>
            </p:cNvPr>
            <p:cNvGrpSpPr/>
            <p:nvPr/>
          </p:nvGrpSpPr>
          <p:grpSpPr>
            <a:xfrm>
              <a:off x="650543" y="3308644"/>
              <a:ext cx="2021006" cy="3017091"/>
              <a:chOff x="1009932" y="3190338"/>
              <a:chExt cx="2021006" cy="3017091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00C1200C-E241-DC7C-1B34-D68EBBA8DB9F}"/>
                  </a:ext>
                </a:extLst>
              </p:cNvPr>
              <p:cNvGrpSpPr/>
              <p:nvPr/>
            </p:nvGrpSpPr>
            <p:grpSpPr>
              <a:xfrm>
                <a:off x="1009932" y="3193575"/>
                <a:ext cx="764277" cy="3010359"/>
                <a:chOff x="1009932" y="3193575"/>
                <a:chExt cx="764277" cy="3010359"/>
              </a:xfrm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B50739E7-91D5-06AE-8F85-BE6E1616328E}"/>
                    </a:ext>
                  </a:extLst>
                </p:cNvPr>
                <p:cNvGrpSpPr/>
                <p:nvPr/>
              </p:nvGrpSpPr>
              <p:grpSpPr>
                <a:xfrm>
                  <a:off x="1009932" y="3193575"/>
                  <a:ext cx="764277" cy="2743201"/>
                  <a:chOff x="1009932" y="3193575"/>
                  <a:chExt cx="764277" cy="2743201"/>
                </a:xfrm>
              </p:grpSpPr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E1E78DBA-BFD5-68CA-179B-E33475E42694}"/>
                      </a:ext>
                    </a:extLst>
                  </p:cNvPr>
                  <p:cNvGrpSpPr/>
                  <p:nvPr/>
                </p:nvGrpSpPr>
                <p:grpSpPr>
                  <a:xfrm>
                    <a:off x="1009933" y="3193576"/>
                    <a:ext cx="764276" cy="2743200"/>
                    <a:chOff x="1009933" y="3193576"/>
                    <a:chExt cx="764276" cy="2743200"/>
                  </a:xfrm>
                </p:grpSpPr>
                <p:sp>
                  <p:nvSpPr>
                    <p:cNvPr id="2" name="Rectangle 1">
                      <a:extLst>
                        <a:ext uri="{FF2B5EF4-FFF2-40B4-BE49-F238E27FC236}">
                          <a16:creationId xmlns:a16="http://schemas.microsoft.com/office/drawing/2014/main" id="{B239A11D-5E29-208B-4D1C-5C639DAF59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9934" y="3193576"/>
                      <a:ext cx="764275" cy="2743200"/>
                    </a:xfrm>
                    <a:prstGeom prst="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14" name="Rectangle 13">
                      <a:extLst>
                        <a:ext uri="{FF2B5EF4-FFF2-40B4-BE49-F238E27FC236}">
                          <a16:creationId xmlns:a16="http://schemas.microsoft.com/office/drawing/2014/main" id="{1535DD2C-CA74-6245-67DA-75E60F2EDA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9933" y="3193576"/>
                      <a:ext cx="764275" cy="912126"/>
                    </a:xfrm>
                    <a:prstGeom prst="rect">
                      <a:avLst/>
                    </a:prstGeom>
                    <a:solidFill>
                      <a:srgbClr val="0000F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</p:grp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E4CED7E8-24CB-8245-A12D-DCA446249DC0}"/>
                      </a:ext>
                    </a:extLst>
                  </p:cNvPr>
                  <p:cNvSpPr/>
                  <p:nvPr/>
                </p:nvSpPr>
                <p:spPr>
                  <a:xfrm>
                    <a:off x="1009932" y="3193575"/>
                    <a:ext cx="764275" cy="52754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dirty="0">
                        <a:solidFill>
                          <a:schemeClr val="bg1"/>
                        </a:solidFill>
                      </a:rPr>
                      <a:t>23%</a:t>
                    </a:r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97255624-808B-C693-EBF2-B32C9B8170F8}"/>
                      </a:ext>
                    </a:extLst>
                  </p:cNvPr>
                  <p:cNvSpPr/>
                  <p:nvPr/>
                </p:nvSpPr>
                <p:spPr>
                  <a:xfrm>
                    <a:off x="1009932" y="5409234"/>
                    <a:ext cx="764275" cy="52754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rPr>
                      <a:t>77%</a:t>
                    </a:r>
                  </a:p>
                </p:txBody>
              </p:sp>
            </p:grp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F0ABF577-1241-B73F-FA27-6524DAAA39E2}"/>
                    </a:ext>
                  </a:extLst>
                </p:cNvPr>
                <p:cNvSpPr/>
                <p:nvPr/>
              </p:nvSpPr>
              <p:spPr>
                <a:xfrm>
                  <a:off x="1009932" y="5884439"/>
                  <a:ext cx="764275" cy="31949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6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Male</a:t>
                  </a:r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1D388735-0A56-7110-7279-A75DA9B93758}"/>
                  </a:ext>
                </a:extLst>
              </p:cNvPr>
              <p:cNvGrpSpPr/>
              <p:nvPr/>
            </p:nvGrpSpPr>
            <p:grpSpPr>
              <a:xfrm>
                <a:off x="2132457" y="3190338"/>
                <a:ext cx="898481" cy="3017091"/>
                <a:chOff x="2132457" y="3190338"/>
                <a:chExt cx="898481" cy="3017091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2DC90321-0B4D-8FAC-0290-5E7DEEED3C65}"/>
                    </a:ext>
                  </a:extLst>
                </p:cNvPr>
                <p:cNvGrpSpPr/>
                <p:nvPr/>
              </p:nvGrpSpPr>
              <p:grpSpPr>
                <a:xfrm>
                  <a:off x="2199561" y="3190338"/>
                  <a:ext cx="764277" cy="2746438"/>
                  <a:chOff x="2199561" y="3190338"/>
                  <a:chExt cx="764277" cy="2746438"/>
                </a:xfrm>
              </p:grpSpPr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90879CD4-8CB2-F06A-DDBA-8AE7D5F8F42B}"/>
                      </a:ext>
                    </a:extLst>
                  </p:cNvPr>
                  <p:cNvGrpSpPr/>
                  <p:nvPr/>
                </p:nvGrpSpPr>
                <p:grpSpPr>
                  <a:xfrm>
                    <a:off x="2199563" y="3193576"/>
                    <a:ext cx="764275" cy="2743200"/>
                    <a:chOff x="2226858" y="3193576"/>
                    <a:chExt cx="764275" cy="2743200"/>
                  </a:xfrm>
                </p:grpSpPr>
                <p:sp>
                  <p:nvSpPr>
                    <p:cNvPr id="13" name="Rectangle 12">
                      <a:extLst>
                        <a:ext uri="{FF2B5EF4-FFF2-40B4-BE49-F238E27FC236}">
                          <a16:creationId xmlns:a16="http://schemas.microsoft.com/office/drawing/2014/main" id="{5001DD3B-8640-5E48-F387-71313FBEFA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6858" y="3193576"/>
                      <a:ext cx="764275" cy="2743200"/>
                    </a:xfrm>
                    <a:prstGeom prst="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15" name="Rectangle 14">
                      <a:extLst>
                        <a:ext uri="{FF2B5EF4-FFF2-40B4-BE49-F238E27FC236}">
                          <a16:creationId xmlns:a16="http://schemas.microsoft.com/office/drawing/2014/main" id="{F89D76B7-315E-D8DB-8006-AF10425783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6858" y="3193576"/>
                      <a:ext cx="764275" cy="655093"/>
                    </a:xfrm>
                    <a:prstGeom prst="rect">
                      <a:avLst/>
                    </a:prstGeom>
                    <a:solidFill>
                      <a:srgbClr val="0000F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</p:grpSp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B77CB2F2-5B6C-33CD-DE65-1FE4FCCC5A88}"/>
                      </a:ext>
                    </a:extLst>
                  </p:cNvPr>
                  <p:cNvSpPr/>
                  <p:nvPr/>
                </p:nvSpPr>
                <p:spPr>
                  <a:xfrm>
                    <a:off x="2199561" y="5396636"/>
                    <a:ext cx="764275" cy="52754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rPr>
                      <a:t>83%</a:t>
                    </a:r>
                  </a:p>
                </p:txBody>
              </p:sp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F0E0F67A-EE42-C42B-15A7-3EE89703B333}"/>
                      </a:ext>
                    </a:extLst>
                  </p:cNvPr>
                  <p:cNvSpPr/>
                  <p:nvPr/>
                </p:nvSpPr>
                <p:spPr>
                  <a:xfrm>
                    <a:off x="2199561" y="3190338"/>
                    <a:ext cx="764275" cy="52754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dirty="0">
                        <a:solidFill>
                          <a:schemeClr val="bg1"/>
                        </a:solidFill>
                      </a:rPr>
                      <a:t>17%</a:t>
                    </a:r>
                  </a:p>
                </p:txBody>
              </p:sp>
            </p:grp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ACB0BAFE-5ACB-238F-6E2B-3118FD8E7F7A}"/>
                    </a:ext>
                  </a:extLst>
                </p:cNvPr>
                <p:cNvSpPr/>
                <p:nvPr/>
              </p:nvSpPr>
              <p:spPr>
                <a:xfrm>
                  <a:off x="2132457" y="5891266"/>
                  <a:ext cx="898481" cy="31616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6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Female</a:t>
                  </a:r>
                </a:p>
              </p:txBody>
            </p:sp>
          </p:grp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96BB2D7-4A64-094C-E2C5-18A9B42FF8C5}"/>
                </a:ext>
              </a:extLst>
            </p:cNvPr>
            <p:cNvGrpSpPr/>
            <p:nvPr/>
          </p:nvGrpSpPr>
          <p:grpSpPr>
            <a:xfrm>
              <a:off x="2861428" y="3327823"/>
              <a:ext cx="1672471" cy="676100"/>
              <a:chOff x="2861428" y="3327823"/>
              <a:chExt cx="1672471" cy="676100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B434E28-E984-9139-2B00-A90B04A60E3D}"/>
                  </a:ext>
                </a:extLst>
              </p:cNvPr>
              <p:cNvGrpSpPr/>
              <p:nvPr/>
            </p:nvGrpSpPr>
            <p:grpSpPr>
              <a:xfrm>
                <a:off x="2861428" y="3401720"/>
                <a:ext cx="168371" cy="565255"/>
                <a:chOff x="2861428" y="3401720"/>
                <a:chExt cx="168371" cy="565255"/>
              </a:xfrm>
            </p:grpSpPr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7328B044-1E9E-A502-8F65-F425C1A51FE1}"/>
                    </a:ext>
                  </a:extLst>
                </p:cNvPr>
                <p:cNvSpPr/>
                <p:nvPr/>
              </p:nvSpPr>
              <p:spPr>
                <a:xfrm>
                  <a:off x="2861428" y="3401720"/>
                  <a:ext cx="168370" cy="168370"/>
                </a:xfrm>
                <a:prstGeom prst="ellipse">
                  <a:avLst/>
                </a:prstGeom>
                <a:solidFill>
                  <a:srgbClr val="0000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D74E28B3-9A9D-836D-FF93-6210C7F84EC5}"/>
                    </a:ext>
                  </a:extLst>
                </p:cNvPr>
                <p:cNvSpPr/>
                <p:nvPr/>
              </p:nvSpPr>
              <p:spPr>
                <a:xfrm>
                  <a:off x="2861429" y="3798605"/>
                  <a:ext cx="168370" cy="168370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193B2B8-5307-A900-1249-F8E968743D95}"/>
                  </a:ext>
                </a:extLst>
              </p:cNvPr>
              <p:cNvSpPr/>
              <p:nvPr/>
            </p:nvSpPr>
            <p:spPr>
              <a:xfrm>
                <a:off x="3078962" y="3327823"/>
                <a:ext cx="1011640" cy="24226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</a:t>
                </a:r>
                <a:r>
                  <a:rPr lang="en-IN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moker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2232B6C-1A62-C181-6181-14647839C4F1}"/>
                  </a:ext>
                </a:extLst>
              </p:cNvPr>
              <p:cNvSpPr/>
              <p:nvPr/>
            </p:nvSpPr>
            <p:spPr>
              <a:xfrm>
                <a:off x="3078962" y="3761656"/>
                <a:ext cx="1454937" cy="24226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Non-S</a:t>
                </a:r>
                <a:r>
                  <a:rPr lang="en-IN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moker</a:t>
                </a:r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9279756-3212-08D5-767F-53BA1FAD0043}"/>
              </a:ext>
            </a:extLst>
          </p:cNvPr>
          <p:cNvGrpSpPr/>
          <p:nvPr/>
        </p:nvGrpSpPr>
        <p:grpSpPr>
          <a:xfrm>
            <a:off x="6685125" y="3400910"/>
            <a:ext cx="2322397" cy="527541"/>
            <a:chOff x="3204936" y="4847260"/>
            <a:chExt cx="3218613" cy="60466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E6D5310-B9F2-81B5-036F-87E4E2D1DB7C}"/>
                </a:ext>
              </a:extLst>
            </p:cNvPr>
            <p:cNvSpPr/>
            <p:nvPr/>
          </p:nvSpPr>
          <p:spPr>
            <a:xfrm>
              <a:off x="3204936" y="4847260"/>
              <a:ext cx="3218612" cy="604663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21FF119-6643-06E3-1040-766CF36ACE5A}"/>
                </a:ext>
              </a:extLst>
            </p:cNvPr>
            <p:cNvSpPr/>
            <p:nvPr/>
          </p:nvSpPr>
          <p:spPr>
            <a:xfrm>
              <a:off x="3216734" y="5167835"/>
              <a:ext cx="2072737" cy="2747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Non-S</a:t>
              </a:r>
              <a:r>
                <a:rPr lang="en-IN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moker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858CE1A-955B-DD58-E5DF-6C78215857CD}"/>
                </a:ext>
              </a:extLst>
            </p:cNvPr>
            <p:cNvSpPr/>
            <p:nvPr/>
          </p:nvSpPr>
          <p:spPr>
            <a:xfrm>
              <a:off x="4683420" y="5172863"/>
              <a:ext cx="1740129" cy="2696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51%</a:t>
              </a:r>
              <a:endParaRPr lang="en-IN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B4B6904-5233-35C1-EF7E-2950473EE4F5}"/>
              </a:ext>
            </a:extLst>
          </p:cNvPr>
          <p:cNvGrpSpPr/>
          <p:nvPr/>
        </p:nvGrpSpPr>
        <p:grpSpPr>
          <a:xfrm>
            <a:off x="9007521" y="3400909"/>
            <a:ext cx="1705971" cy="533163"/>
            <a:chOff x="3201492" y="5451923"/>
            <a:chExt cx="3012986" cy="610482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3B5DFAB-8610-E2C3-6BA7-4AF711BDD4FD}"/>
                </a:ext>
              </a:extLst>
            </p:cNvPr>
            <p:cNvSpPr/>
            <p:nvPr/>
          </p:nvSpPr>
          <p:spPr>
            <a:xfrm>
              <a:off x="3201494" y="5451923"/>
              <a:ext cx="3012984" cy="60466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E720F9F-3E81-DC66-B39D-697552F82204}"/>
                </a:ext>
              </a:extLst>
            </p:cNvPr>
            <p:cNvSpPr/>
            <p:nvPr/>
          </p:nvSpPr>
          <p:spPr>
            <a:xfrm>
              <a:off x="3201492" y="5763583"/>
              <a:ext cx="3012984" cy="2751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</a:t>
              </a:r>
              <a:r>
                <a:rPr lang="en-IN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moker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FEFEEF1-746C-66E7-AC0A-0E2D0C2F474A}"/>
                </a:ext>
              </a:extLst>
            </p:cNvPr>
            <p:cNvSpPr/>
            <p:nvPr/>
          </p:nvSpPr>
          <p:spPr>
            <a:xfrm>
              <a:off x="4530567" y="5770907"/>
              <a:ext cx="1683911" cy="2914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49%</a:t>
              </a:r>
              <a:endParaRPr lang="en-IN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E9DA75A7-EB2A-96E6-8BF0-4835FFF5B255}"/>
              </a:ext>
            </a:extLst>
          </p:cNvPr>
          <p:cNvSpPr/>
          <p:nvPr/>
        </p:nvSpPr>
        <p:spPr>
          <a:xfrm>
            <a:off x="6685125" y="3920584"/>
            <a:ext cx="4028367" cy="527541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Expenses</a:t>
            </a:r>
          </a:p>
        </p:txBody>
      </p:sp>
    </p:spTree>
    <p:extLst>
      <p:ext uri="{BB962C8B-B14F-4D97-AF65-F5344CB8AC3E}">
        <p14:creationId xmlns:p14="http://schemas.microsoft.com/office/powerpoint/2010/main" val="4125013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5620D7-DFC3-12A3-E092-299D0B9E57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40" t="15174" r="17378" b="16187"/>
          <a:stretch/>
        </p:blipFill>
        <p:spPr>
          <a:xfrm>
            <a:off x="11352346" y="100154"/>
            <a:ext cx="642077" cy="682387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329939F3-C362-090E-C317-446A2E6EE026}"/>
              </a:ext>
            </a:extLst>
          </p:cNvPr>
          <p:cNvGrpSpPr/>
          <p:nvPr/>
        </p:nvGrpSpPr>
        <p:grpSpPr>
          <a:xfrm>
            <a:off x="650543" y="1860641"/>
            <a:ext cx="5349923" cy="4465095"/>
            <a:chOff x="518614" y="1405716"/>
            <a:chExt cx="5349923" cy="446509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B8F4B10-9D72-1841-72B1-E79530C6AE63}"/>
                </a:ext>
              </a:extLst>
            </p:cNvPr>
            <p:cNvSpPr/>
            <p:nvPr/>
          </p:nvSpPr>
          <p:spPr>
            <a:xfrm>
              <a:off x="518614" y="1405718"/>
              <a:ext cx="2320120" cy="271590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4640059-3A8A-1EA6-6793-B8F84E7917EB}"/>
                </a:ext>
              </a:extLst>
            </p:cNvPr>
            <p:cNvSpPr/>
            <p:nvPr/>
          </p:nvSpPr>
          <p:spPr>
            <a:xfrm>
              <a:off x="518614" y="4121623"/>
              <a:ext cx="2320120" cy="1749188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ABF021A-B176-340B-324A-35F8CCCC4E32}"/>
                </a:ext>
              </a:extLst>
            </p:cNvPr>
            <p:cNvSpPr/>
            <p:nvPr/>
          </p:nvSpPr>
          <p:spPr>
            <a:xfrm>
              <a:off x="2838734" y="1405717"/>
              <a:ext cx="1663416" cy="315263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55D1064-8245-0B87-4A5F-2188616BE2C2}"/>
                </a:ext>
              </a:extLst>
            </p:cNvPr>
            <p:cNvSpPr/>
            <p:nvPr/>
          </p:nvSpPr>
          <p:spPr>
            <a:xfrm>
              <a:off x="4502150" y="1405716"/>
              <a:ext cx="1366387" cy="3152635"/>
            </a:xfrm>
            <a:prstGeom prst="rect">
              <a:avLst/>
            </a:prstGeom>
            <a:solidFill>
              <a:srgbClr val="003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9F996CF-9A2E-2E57-044F-3813995CA6E9}"/>
                </a:ext>
              </a:extLst>
            </p:cNvPr>
            <p:cNvSpPr/>
            <p:nvPr/>
          </p:nvSpPr>
          <p:spPr>
            <a:xfrm>
              <a:off x="2838734" y="4558351"/>
              <a:ext cx="2047165" cy="131246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B4723D0-62C4-28B0-A054-3BE7638DF7D4}"/>
                </a:ext>
              </a:extLst>
            </p:cNvPr>
            <p:cNvSpPr/>
            <p:nvPr/>
          </p:nvSpPr>
          <p:spPr>
            <a:xfrm>
              <a:off x="4885899" y="4558350"/>
              <a:ext cx="982638" cy="1312460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15010AFA-F55C-9DD8-A851-57AF61B9F960}"/>
              </a:ext>
            </a:extLst>
          </p:cNvPr>
          <p:cNvSpPr/>
          <p:nvPr/>
        </p:nvSpPr>
        <p:spPr>
          <a:xfrm>
            <a:off x="6687402" y="5104263"/>
            <a:ext cx="4664943" cy="1221473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Insight: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50-60 years age group expense more compare to 30-40 &amp; 20-30 years age group.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4FE346B-15C9-FB33-57BB-DC2D7F3846BE}"/>
              </a:ext>
            </a:extLst>
          </p:cNvPr>
          <p:cNvSpPr/>
          <p:nvPr/>
        </p:nvSpPr>
        <p:spPr>
          <a:xfrm>
            <a:off x="650542" y="532265"/>
            <a:ext cx="10062951" cy="5868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Expenses by Age Group: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818E1A3-D0C8-B27F-01FD-621CFB60AB37}"/>
              </a:ext>
            </a:extLst>
          </p:cNvPr>
          <p:cNvSpPr/>
          <p:nvPr/>
        </p:nvSpPr>
        <p:spPr>
          <a:xfrm>
            <a:off x="650543" y="1878126"/>
            <a:ext cx="1366387" cy="435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50 to 60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7AAB36-D603-8C38-782A-1AB968377E15}"/>
              </a:ext>
            </a:extLst>
          </p:cNvPr>
          <p:cNvSpPr/>
          <p:nvPr/>
        </p:nvSpPr>
        <p:spPr>
          <a:xfrm>
            <a:off x="650542" y="4632731"/>
            <a:ext cx="1366387" cy="435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40 to 50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E58ECE-9EBE-2DE4-4360-BD8513854461}"/>
              </a:ext>
            </a:extLst>
          </p:cNvPr>
          <p:cNvSpPr/>
          <p:nvPr/>
        </p:nvSpPr>
        <p:spPr>
          <a:xfrm>
            <a:off x="4634079" y="1858373"/>
            <a:ext cx="1366386" cy="5101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 to 30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9AD8A1B-DAE5-D1DA-6D12-9B56A0E87E5F}"/>
              </a:ext>
            </a:extLst>
          </p:cNvPr>
          <p:cNvSpPr/>
          <p:nvPr/>
        </p:nvSpPr>
        <p:spPr>
          <a:xfrm>
            <a:off x="2970663" y="1858373"/>
            <a:ext cx="1366386" cy="4722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30 to 40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B4D5EF1-836C-B84D-DF5D-5D0F0811E604}"/>
              </a:ext>
            </a:extLst>
          </p:cNvPr>
          <p:cNvSpPr/>
          <p:nvPr/>
        </p:nvSpPr>
        <p:spPr>
          <a:xfrm>
            <a:off x="2970662" y="5013275"/>
            <a:ext cx="1360229" cy="4355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Above 60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3BB2DE6-70EB-981B-0567-CDF9A3033CE1}"/>
              </a:ext>
            </a:extLst>
          </p:cNvPr>
          <p:cNvSpPr/>
          <p:nvPr/>
        </p:nvSpPr>
        <p:spPr>
          <a:xfrm>
            <a:off x="5017828" y="5013274"/>
            <a:ext cx="976480" cy="435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Below 20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9378D45-7935-90D6-2212-E8E53559C9F3}"/>
              </a:ext>
            </a:extLst>
          </p:cNvPr>
          <p:cNvSpPr/>
          <p:nvPr/>
        </p:nvSpPr>
        <p:spPr>
          <a:xfrm>
            <a:off x="2102209" y="4202780"/>
            <a:ext cx="868454" cy="3737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4.47M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CAA602E-50D8-99C2-00BD-AF22A6718836}"/>
              </a:ext>
            </a:extLst>
          </p:cNvPr>
          <p:cNvSpPr/>
          <p:nvPr/>
        </p:nvSpPr>
        <p:spPr>
          <a:xfrm>
            <a:off x="2102209" y="5963442"/>
            <a:ext cx="868453" cy="362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4.02M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A856806-7033-BD39-198A-B7C3E63FC57B}"/>
              </a:ext>
            </a:extLst>
          </p:cNvPr>
          <p:cNvSpPr/>
          <p:nvPr/>
        </p:nvSpPr>
        <p:spPr>
          <a:xfrm>
            <a:off x="4281017" y="6002891"/>
            <a:ext cx="736810" cy="322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2.42M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AA567EA-06C1-A6D4-F296-6B48F8F4E683}"/>
              </a:ext>
            </a:extLst>
          </p:cNvPr>
          <p:cNvSpPr/>
          <p:nvPr/>
        </p:nvSpPr>
        <p:spPr>
          <a:xfrm>
            <a:off x="5160901" y="4632730"/>
            <a:ext cx="833407" cy="3805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2.68M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4DF7F63-DE83-C525-D06C-5301BD30B5AD}"/>
              </a:ext>
            </a:extLst>
          </p:cNvPr>
          <p:cNvSpPr/>
          <p:nvPr/>
        </p:nvSpPr>
        <p:spPr>
          <a:xfrm>
            <a:off x="5241924" y="6026723"/>
            <a:ext cx="752383" cy="2990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1.15M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D68866A-D44D-4A32-E00F-CD9A2879C6BB}"/>
              </a:ext>
            </a:extLst>
          </p:cNvPr>
          <p:cNvSpPr/>
          <p:nvPr/>
        </p:nvSpPr>
        <p:spPr>
          <a:xfrm>
            <a:off x="3740987" y="4639978"/>
            <a:ext cx="893092" cy="373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3.02M</a:t>
            </a:r>
          </a:p>
        </p:txBody>
      </p:sp>
    </p:spTree>
    <p:extLst>
      <p:ext uri="{BB962C8B-B14F-4D97-AF65-F5344CB8AC3E}">
        <p14:creationId xmlns:p14="http://schemas.microsoft.com/office/powerpoint/2010/main" val="1133285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5620D7-DFC3-12A3-E092-299D0B9E57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40" t="15174" r="17378" b="16187"/>
          <a:stretch/>
        </p:blipFill>
        <p:spPr>
          <a:xfrm>
            <a:off x="11352346" y="100154"/>
            <a:ext cx="642077" cy="6823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F646111-1C7E-D0B5-9AC1-731C044827EA}"/>
              </a:ext>
            </a:extLst>
          </p:cNvPr>
          <p:cNvSpPr/>
          <p:nvPr/>
        </p:nvSpPr>
        <p:spPr>
          <a:xfrm>
            <a:off x="6687402" y="5104263"/>
            <a:ext cx="4664943" cy="1221473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Insight: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Almost all regions people expenses equally, but southeast compare to more, i.e., 30.21%.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91AEAA-EFAA-4997-F625-9A77A59F2FCD}"/>
              </a:ext>
            </a:extLst>
          </p:cNvPr>
          <p:cNvSpPr/>
          <p:nvPr/>
        </p:nvSpPr>
        <p:spPr>
          <a:xfrm>
            <a:off x="650543" y="532265"/>
            <a:ext cx="10062950" cy="5868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Expenses by Region: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7C04F9-3A96-A7CF-9FA6-63A4B2C1C5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43" y="1506219"/>
            <a:ext cx="6036859" cy="321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122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5620D7-DFC3-12A3-E092-299D0B9E57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40" t="15174" r="17378" b="16187"/>
          <a:stretch/>
        </p:blipFill>
        <p:spPr>
          <a:xfrm>
            <a:off x="11352346" y="100154"/>
            <a:ext cx="642077" cy="6823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F646111-1C7E-D0B5-9AC1-731C044827EA}"/>
              </a:ext>
            </a:extLst>
          </p:cNvPr>
          <p:cNvSpPr/>
          <p:nvPr/>
        </p:nvSpPr>
        <p:spPr>
          <a:xfrm>
            <a:off x="6687402" y="5104263"/>
            <a:ext cx="4664943" cy="1221473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Insight: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 wise expenses ratio is flatulate, not an increasing order over age.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91AEAA-EFAA-4997-F625-9A77A59F2FCD}"/>
              </a:ext>
            </a:extLst>
          </p:cNvPr>
          <p:cNvSpPr/>
          <p:nvPr/>
        </p:nvSpPr>
        <p:spPr>
          <a:xfrm>
            <a:off x="650543" y="532265"/>
            <a:ext cx="10062950" cy="5868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Expenses by Age: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271FFA-F7FD-7915-8808-D9E3E8C478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43" y="1357456"/>
            <a:ext cx="8848300" cy="348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436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5620D7-DFC3-12A3-E092-299D0B9E57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40" t="15174" r="17378" b="16187"/>
          <a:stretch/>
        </p:blipFill>
        <p:spPr>
          <a:xfrm>
            <a:off x="11352346" y="100154"/>
            <a:ext cx="642077" cy="6823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F646111-1C7E-D0B5-9AC1-731C044827EA}"/>
              </a:ext>
            </a:extLst>
          </p:cNvPr>
          <p:cNvSpPr/>
          <p:nvPr/>
        </p:nvSpPr>
        <p:spPr>
          <a:xfrm>
            <a:off x="6687402" y="5104263"/>
            <a:ext cx="4664943" cy="1221473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Insight: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BMI wise expenses ratio is flatulate, not an increasing order over 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bmi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91AEAA-EFAA-4997-F625-9A77A59F2FCD}"/>
              </a:ext>
            </a:extLst>
          </p:cNvPr>
          <p:cNvSpPr/>
          <p:nvPr/>
        </p:nvSpPr>
        <p:spPr>
          <a:xfrm>
            <a:off x="650543" y="532265"/>
            <a:ext cx="10062950" cy="5868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Expenses by BMI: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A0E7AE-2BF0-0D83-19F9-180E91D0C2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43" y="1318777"/>
            <a:ext cx="8002138" cy="352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496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5620D7-DFC3-12A3-E092-299D0B9E57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40" t="15174" r="17378" b="16187"/>
          <a:stretch/>
        </p:blipFill>
        <p:spPr>
          <a:xfrm>
            <a:off x="11352346" y="100154"/>
            <a:ext cx="642077" cy="6823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F646111-1C7E-D0B5-9AC1-731C044827EA}"/>
              </a:ext>
            </a:extLst>
          </p:cNvPr>
          <p:cNvSpPr/>
          <p:nvPr/>
        </p:nvSpPr>
        <p:spPr>
          <a:xfrm>
            <a:off x="6687402" y="5104263"/>
            <a:ext cx="4664943" cy="1221473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Insight: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When number of children of a person increase then expenses also decrease.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91AEAA-EFAA-4997-F625-9A77A59F2FCD}"/>
              </a:ext>
            </a:extLst>
          </p:cNvPr>
          <p:cNvSpPr/>
          <p:nvPr/>
        </p:nvSpPr>
        <p:spPr>
          <a:xfrm>
            <a:off x="650543" y="532265"/>
            <a:ext cx="10062950" cy="5868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Expenses by Children: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F99EAD-1C18-8EB2-612B-524BF79CA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43" y="1458738"/>
            <a:ext cx="8834651" cy="335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614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5620D7-DFC3-12A3-E092-299D0B9E57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40" t="15174" r="17378" b="16187"/>
          <a:stretch/>
        </p:blipFill>
        <p:spPr>
          <a:xfrm>
            <a:off x="11352346" y="100154"/>
            <a:ext cx="642077" cy="6823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A91AEAA-EFAA-4997-F625-9A77A59F2FCD}"/>
              </a:ext>
            </a:extLst>
          </p:cNvPr>
          <p:cNvSpPr/>
          <p:nvPr/>
        </p:nvSpPr>
        <p:spPr>
          <a:xfrm>
            <a:off x="650543" y="532265"/>
            <a:ext cx="10062950" cy="5868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Machine Learning Pipeline: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862A736-1634-8093-0CC6-631E9DD654B3}"/>
              </a:ext>
            </a:extLst>
          </p:cNvPr>
          <p:cNvGrpSpPr/>
          <p:nvPr/>
        </p:nvGrpSpPr>
        <p:grpSpPr>
          <a:xfrm>
            <a:off x="650543" y="1407992"/>
            <a:ext cx="10340455" cy="4706205"/>
            <a:chOff x="650543" y="1407992"/>
            <a:chExt cx="10340455" cy="470620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2353796-9BD9-0672-B159-FAD878ACBC78}"/>
                </a:ext>
              </a:extLst>
            </p:cNvPr>
            <p:cNvSpPr/>
            <p:nvPr/>
          </p:nvSpPr>
          <p:spPr>
            <a:xfrm>
              <a:off x="928048" y="3514854"/>
              <a:ext cx="10062950" cy="2599343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8756310-3ECF-5C80-E0A4-9144B6758C2E}"/>
                </a:ext>
              </a:extLst>
            </p:cNvPr>
            <p:cNvSpPr/>
            <p:nvPr/>
          </p:nvSpPr>
          <p:spPr>
            <a:xfrm>
              <a:off x="650543" y="1407992"/>
              <a:ext cx="1642281" cy="477671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Data Collection</a:t>
              </a:r>
              <a:endParaRPr lang="en-IN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F43E949-74B6-70CA-4B88-6F1FA7FBCE5A}"/>
                </a:ext>
              </a:extLst>
            </p:cNvPr>
            <p:cNvSpPr/>
            <p:nvPr/>
          </p:nvSpPr>
          <p:spPr>
            <a:xfrm>
              <a:off x="3244760" y="3707626"/>
              <a:ext cx="1589963" cy="58685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Preprocessing</a:t>
              </a:r>
              <a:endParaRPr lang="en-IN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0409F5B-A669-F457-9545-D12F3E617EAC}"/>
                </a:ext>
              </a:extLst>
            </p:cNvPr>
            <p:cNvSpPr/>
            <p:nvPr/>
          </p:nvSpPr>
          <p:spPr>
            <a:xfrm>
              <a:off x="650543" y="2564633"/>
              <a:ext cx="1642281" cy="464023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Analyzed Data</a:t>
              </a:r>
              <a:endParaRPr lang="en-IN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A33E0DC-9787-1A44-8BCA-C0BE5917D443}"/>
                </a:ext>
              </a:extLst>
            </p:cNvPr>
            <p:cNvSpPr/>
            <p:nvPr/>
          </p:nvSpPr>
          <p:spPr>
            <a:xfrm>
              <a:off x="2678377" y="1407992"/>
              <a:ext cx="1589963" cy="58685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Understand the Business</a:t>
              </a:r>
              <a:endParaRPr lang="en-IN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E6827D2-72E1-5962-1CFB-B713879C799C}"/>
                </a:ext>
              </a:extLst>
            </p:cNvPr>
            <p:cNvSpPr/>
            <p:nvPr/>
          </p:nvSpPr>
          <p:spPr>
            <a:xfrm>
              <a:off x="5401107" y="4727801"/>
              <a:ext cx="1181658" cy="58685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Store Data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BE09295-69CD-9ABA-ADB3-6BAC1B7C34F5}"/>
                </a:ext>
              </a:extLst>
            </p:cNvPr>
            <p:cNvSpPr/>
            <p:nvPr/>
          </p:nvSpPr>
          <p:spPr>
            <a:xfrm>
              <a:off x="1286305" y="3707626"/>
              <a:ext cx="1392072" cy="58685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Feature Engineering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FD35EF8-D44B-D3F6-FB36-E6EC2C58FD6E}"/>
                </a:ext>
              </a:extLst>
            </p:cNvPr>
            <p:cNvSpPr/>
            <p:nvPr/>
          </p:nvSpPr>
          <p:spPr>
            <a:xfrm>
              <a:off x="5401107" y="3707626"/>
              <a:ext cx="1181658" cy="58685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Split Data</a:t>
              </a:r>
              <a:endParaRPr lang="en-IN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36486D-938F-4C73-EFC0-57FB04CA6865}"/>
                </a:ext>
              </a:extLst>
            </p:cNvPr>
            <p:cNvSpPr/>
            <p:nvPr/>
          </p:nvSpPr>
          <p:spPr>
            <a:xfrm>
              <a:off x="7149148" y="3707626"/>
              <a:ext cx="1392072" cy="58685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Model Training</a:t>
              </a:r>
              <a:endParaRPr lang="en-IN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54C3893-6C2C-F14A-F6F7-532B545345D8}"/>
                </a:ext>
              </a:extLst>
            </p:cNvPr>
            <p:cNvSpPr/>
            <p:nvPr/>
          </p:nvSpPr>
          <p:spPr>
            <a:xfrm>
              <a:off x="9107604" y="3713302"/>
              <a:ext cx="1392072" cy="58685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Model Evaluation</a:t>
              </a:r>
              <a:endParaRPr lang="en-IN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05E3A68-705A-0244-577C-44661198A61A}"/>
                </a:ext>
              </a:extLst>
            </p:cNvPr>
            <p:cNvSpPr/>
            <p:nvPr/>
          </p:nvSpPr>
          <p:spPr>
            <a:xfrm>
              <a:off x="9107605" y="5314653"/>
              <a:ext cx="1392071" cy="58685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Prediction</a:t>
              </a:r>
              <a:endParaRPr lang="en-IN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86DA854-72CD-4182-E00C-96D9A977C0F6}"/>
                </a:ext>
              </a:extLst>
            </p:cNvPr>
            <p:cNvSpPr/>
            <p:nvPr/>
          </p:nvSpPr>
          <p:spPr>
            <a:xfrm rot="16200000">
              <a:off x="7357243" y="4532707"/>
              <a:ext cx="721074" cy="2866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spc="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train</a:t>
              </a:r>
              <a:endParaRPr lang="en-IN" sz="1400" spc="3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515D698-445D-12F8-2C09-4F0D0CFB0822}"/>
                </a:ext>
              </a:extLst>
            </p:cNvPr>
            <p:cNvSpPr/>
            <p:nvPr/>
          </p:nvSpPr>
          <p:spPr>
            <a:xfrm>
              <a:off x="9202370" y="4772704"/>
              <a:ext cx="670635" cy="2502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spc="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test</a:t>
              </a:r>
              <a:endParaRPr lang="en-IN" sz="1400" spc="3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FF7FA01-B9C4-7E40-5343-EC850F7560EB}"/>
                </a:ext>
              </a:extLst>
            </p:cNvPr>
            <p:cNvCxnSpPr>
              <a:stCxn id="3" idx="2"/>
              <a:endCxn id="13" idx="0"/>
            </p:cNvCxnSpPr>
            <p:nvPr/>
          </p:nvCxnSpPr>
          <p:spPr>
            <a:xfrm>
              <a:off x="1471684" y="1885663"/>
              <a:ext cx="0" cy="67897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595BB4D2-901D-53AF-CCD0-7E56FC7D1251}"/>
                </a:ext>
              </a:extLst>
            </p:cNvPr>
            <p:cNvCxnSpPr>
              <a:stCxn id="14" idx="2"/>
              <a:endCxn id="13" idx="3"/>
            </p:cNvCxnSpPr>
            <p:nvPr/>
          </p:nvCxnSpPr>
          <p:spPr>
            <a:xfrm rot="5400000">
              <a:off x="2482192" y="1805477"/>
              <a:ext cx="801801" cy="1180535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E97D795F-CD00-417C-A2A5-FCC00EDD6C5F}"/>
                </a:ext>
              </a:extLst>
            </p:cNvPr>
            <p:cNvCxnSpPr>
              <a:stCxn id="13" idx="2"/>
              <a:endCxn id="16" idx="1"/>
            </p:cNvCxnSpPr>
            <p:nvPr/>
          </p:nvCxnSpPr>
          <p:spPr>
            <a:xfrm rot="5400000">
              <a:off x="892797" y="3422165"/>
              <a:ext cx="972396" cy="185379"/>
            </a:xfrm>
            <a:prstGeom prst="bentConnector4">
              <a:avLst>
                <a:gd name="adj1" fmla="val 34912"/>
                <a:gd name="adj2" fmla="val 223315"/>
              </a:avLst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6AC9182-5C6B-8EFD-4D10-FD26CDD48B0A}"/>
                </a:ext>
              </a:extLst>
            </p:cNvPr>
            <p:cNvCxnSpPr>
              <a:stCxn id="16" idx="3"/>
              <a:endCxn id="7" idx="1"/>
            </p:cNvCxnSpPr>
            <p:nvPr/>
          </p:nvCxnSpPr>
          <p:spPr>
            <a:xfrm>
              <a:off x="2678377" y="4001052"/>
              <a:ext cx="566383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5007268-A7C1-91B4-50FA-17A0B173C0A5}"/>
                </a:ext>
              </a:extLst>
            </p:cNvPr>
            <p:cNvCxnSpPr>
              <a:stCxn id="7" idx="3"/>
              <a:endCxn id="17" idx="1"/>
            </p:cNvCxnSpPr>
            <p:nvPr/>
          </p:nvCxnSpPr>
          <p:spPr>
            <a:xfrm>
              <a:off x="4834723" y="4001052"/>
              <a:ext cx="56638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17DD497-5B08-4EBC-2658-57F2C07C30B5}"/>
                </a:ext>
              </a:extLst>
            </p:cNvPr>
            <p:cNvCxnSpPr>
              <a:stCxn id="17" idx="2"/>
              <a:endCxn id="15" idx="0"/>
            </p:cNvCxnSpPr>
            <p:nvPr/>
          </p:nvCxnSpPr>
          <p:spPr>
            <a:xfrm>
              <a:off x="5991936" y="4294478"/>
              <a:ext cx="0" cy="43332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74DED20C-C007-534F-A915-23DAB6715961}"/>
                </a:ext>
              </a:extLst>
            </p:cNvPr>
            <p:cNvCxnSpPr>
              <a:stCxn id="15" idx="3"/>
              <a:endCxn id="18" idx="2"/>
            </p:cNvCxnSpPr>
            <p:nvPr/>
          </p:nvCxnSpPr>
          <p:spPr>
            <a:xfrm flipV="1">
              <a:off x="6582765" y="4294478"/>
              <a:ext cx="1262419" cy="726749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B3F818DC-8EE0-0F58-41D6-A67B2A4ECA47}"/>
                </a:ext>
              </a:extLst>
            </p:cNvPr>
            <p:cNvCxnSpPr>
              <a:stCxn id="15" idx="3"/>
              <a:endCxn id="19" idx="2"/>
            </p:cNvCxnSpPr>
            <p:nvPr/>
          </p:nvCxnSpPr>
          <p:spPr>
            <a:xfrm flipV="1">
              <a:off x="6582765" y="4300154"/>
              <a:ext cx="3220875" cy="721073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8DFA15E6-E2A0-0F4A-8767-71884AA88903}"/>
                </a:ext>
              </a:extLst>
            </p:cNvPr>
            <p:cNvCxnSpPr>
              <a:stCxn id="17" idx="3"/>
              <a:endCxn id="18" idx="1"/>
            </p:cNvCxnSpPr>
            <p:nvPr/>
          </p:nvCxnSpPr>
          <p:spPr>
            <a:xfrm>
              <a:off x="6582765" y="4001052"/>
              <a:ext cx="566383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302CBEE-D701-088B-CF19-813C68D892D8}"/>
                </a:ext>
              </a:extLst>
            </p:cNvPr>
            <p:cNvCxnSpPr>
              <a:stCxn id="18" idx="3"/>
              <a:endCxn id="19" idx="1"/>
            </p:cNvCxnSpPr>
            <p:nvPr/>
          </p:nvCxnSpPr>
          <p:spPr>
            <a:xfrm>
              <a:off x="8541220" y="4001052"/>
              <a:ext cx="566384" cy="567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3BE9837A-2E79-44FD-531B-2D48F3BBD732}"/>
                </a:ext>
              </a:extLst>
            </p:cNvPr>
            <p:cNvCxnSpPr>
              <a:stCxn id="19" idx="3"/>
              <a:endCxn id="20" idx="3"/>
            </p:cNvCxnSpPr>
            <p:nvPr/>
          </p:nvCxnSpPr>
          <p:spPr>
            <a:xfrm>
              <a:off x="10499676" y="4006728"/>
              <a:ext cx="12700" cy="1601351"/>
            </a:xfrm>
            <a:prstGeom prst="bentConnector3">
              <a:avLst>
                <a:gd name="adj1" fmla="val 1800000"/>
              </a:avLst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3" name="Connector: Elbow 62">
              <a:extLst>
                <a:ext uri="{FF2B5EF4-FFF2-40B4-BE49-F238E27FC236}">
                  <a16:creationId xmlns:a16="http://schemas.microsoft.com/office/drawing/2014/main" id="{C3CEB574-26A6-B562-90D7-4C80FBB1237F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rot="16200000" flipV="1">
              <a:off x="5645070" y="-445269"/>
              <a:ext cx="806326" cy="7510815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FC659846-2B34-065A-B8C9-DCD0A6E5B9D0}"/>
                </a:ext>
              </a:extLst>
            </p:cNvPr>
            <p:cNvSpPr/>
            <p:nvPr/>
          </p:nvSpPr>
          <p:spPr>
            <a:xfrm>
              <a:off x="9839960" y="3225385"/>
              <a:ext cx="1147813" cy="2894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ML Pipeline</a:t>
              </a:r>
              <a:endParaRPr lang="en-IN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7605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5620D7-DFC3-12A3-E092-299D0B9E57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40" t="15174" r="17378" b="16187"/>
          <a:stretch/>
        </p:blipFill>
        <p:spPr>
          <a:xfrm>
            <a:off x="11352346" y="100154"/>
            <a:ext cx="642077" cy="6823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F646111-1C7E-D0B5-9AC1-731C044827EA}"/>
              </a:ext>
            </a:extLst>
          </p:cNvPr>
          <p:cNvSpPr/>
          <p:nvPr/>
        </p:nvSpPr>
        <p:spPr>
          <a:xfrm>
            <a:off x="650544" y="1337482"/>
            <a:ext cx="4235356" cy="4988254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this project there is no such more linear relationship between independent features and dependent feature, so we use there ML algorithms to build the model, i.e.,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RandomForestRegressor,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SupportVectorRegressor (SVR), and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GradientBoostingRegressor.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Here, we select GradientBoostingRegressor algorithm based on performance matrix. </a:t>
            </a:r>
            <a:b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Matrix Link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After that create a web app for predict the expenses based on new test data.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91AEAA-EFAA-4997-F625-9A77A59F2FCD}"/>
              </a:ext>
            </a:extLst>
          </p:cNvPr>
          <p:cNvSpPr/>
          <p:nvPr/>
        </p:nvSpPr>
        <p:spPr>
          <a:xfrm>
            <a:off x="650543" y="532265"/>
            <a:ext cx="10062950" cy="5868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Generalized Machine Learning Model: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E4DDF4-78F2-2670-ADF5-4511E62522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103" y="1337482"/>
            <a:ext cx="3139484" cy="498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202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741F70-5C03-C544-670B-E915E49F39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40" t="15174" r="17378" b="16187"/>
          <a:stretch/>
        </p:blipFill>
        <p:spPr>
          <a:xfrm>
            <a:off x="11352346" y="100154"/>
            <a:ext cx="642077" cy="682387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A41F1D5-4CD2-30F6-5607-C3927C188F55}"/>
              </a:ext>
            </a:extLst>
          </p:cNvPr>
          <p:cNvGrpSpPr/>
          <p:nvPr/>
        </p:nvGrpSpPr>
        <p:grpSpPr>
          <a:xfrm>
            <a:off x="2438400" y="782541"/>
            <a:ext cx="9753600" cy="6075458"/>
            <a:chOff x="2438400" y="782541"/>
            <a:chExt cx="9753600" cy="607545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BB81B18-F3C0-3D20-CE66-A84F77398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38400" y="782541"/>
              <a:ext cx="9753600" cy="5808474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9E828F2-2862-DCDE-80CE-F6FEFDBC98CB}"/>
                </a:ext>
              </a:extLst>
            </p:cNvPr>
            <p:cNvSpPr/>
            <p:nvPr/>
          </p:nvSpPr>
          <p:spPr>
            <a:xfrm>
              <a:off x="8461612" y="6075458"/>
              <a:ext cx="3730388" cy="7825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3200" b="1" dirty="0">
                  <a:solidFill>
                    <a:schemeClr val="accent1">
                      <a:lumMod val="50000"/>
                    </a:schemeClr>
                  </a:solidFill>
                </a:rPr>
                <a:t>-by Dibyendu Biswas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9262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302</Words>
  <Application>Microsoft Office PowerPoint</Application>
  <PresentationFormat>Widescreen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Dibyendu</dc:creator>
  <cp:lastModifiedBy>Dibyendu</cp:lastModifiedBy>
  <cp:revision>114</cp:revision>
  <dcterms:created xsi:type="dcterms:W3CDTF">2023-05-04T14:02:13Z</dcterms:created>
  <dcterms:modified xsi:type="dcterms:W3CDTF">2023-05-05T10:41:25Z</dcterms:modified>
</cp:coreProperties>
</file>