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1" r:id="rId6"/>
    <p:sldId id="260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050"/>
    <a:srgbClr val="00FF00"/>
    <a:srgbClr val="0033CC"/>
    <a:srgbClr val="FF00FF"/>
    <a:srgbClr val="00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71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7CAF4-61DA-EF3B-D02D-DAB3EF5ED6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45212E-02F8-71A8-324D-EC27EF9388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B3E9DD-F7C9-E505-C42E-28891E51E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19FF3-4D90-4A46-9083-84D7E6FE98AE}" type="datetimeFigureOut">
              <a:rPr lang="en-IN" smtClean="0"/>
              <a:t>04-05-2023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67FE9-2898-E3E8-8B0F-D85246FDC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D13C5-936F-6958-53E5-3ABDC3267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8CFB4-40ED-412E-908B-FED2E454B5C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34693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FCDCF-1882-423E-DB76-66235B849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5D50E-CF89-292B-F28C-CECADAAB74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7722E0-7182-3781-975F-D1ED75A467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19FF3-4D90-4A46-9083-84D7E6FE98AE}" type="datetimeFigureOut">
              <a:rPr lang="en-IN" smtClean="0"/>
              <a:t>04-05-2023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7E0362-553E-0C1A-4102-054BDE440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856D6F-139B-2803-3015-CD53488F4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8CFB4-40ED-412E-908B-FED2E454B5C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965507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F5592-F02C-248C-C25F-6540EAE9E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6E5DAD-0642-BEAB-4DCE-6DCACAB6F7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6423B5-9844-CEE5-218B-F3AA8F1FC6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19FF3-4D90-4A46-9083-84D7E6FE98AE}" type="datetimeFigureOut">
              <a:rPr lang="en-IN" smtClean="0"/>
              <a:t>04-05-2023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AB030F-F9B9-47A6-EA50-5FC04B253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3F77B1-95FC-D215-AF2C-699485D91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8CFB4-40ED-412E-908B-FED2E454B5C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73947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A804F-EDD7-7839-4200-2D7DFA558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170222-039F-E092-6D72-3CDF99AFD3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D9B3C3-64A0-4165-42E5-D4ECB70CAD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867348-3CBD-0B71-4DBA-4D8FA5570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19FF3-4D90-4A46-9083-84D7E6FE98AE}" type="datetimeFigureOut">
              <a:rPr lang="en-IN" smtClean="0"/>
              <a:t>04-05-2023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6B2C64-F5F9-2417-CBD4-EB0D3A1DA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9E766B-CA8B-833F-1427-E19895629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8CFB4-40ED-412E-908B-FED2E454B5C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2489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29EFF-3513-5E2C-05E5-F2B89CAC6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4323AA-8558-2D99-19BA-2164E8E0AA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F9304C-3C21-9F69-7A34-EB5CAC4515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C3D1CB-F4A0-EF72-E615-9B5404BA46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E41325-6A70-D118-35F7-70777A7F6C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8F169E-572B-7CCD-AC4A-D9E730BA2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19FF3-4D90-4A46-9083-84D7E6FE98AE}" type="datetimeFigureOut">
              <a:rPr lang="en-IN" smtClean="0"/>
              <a:t>04-05-2023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35C038-9D26-8E7A-E1F9-A6ECAB54B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4B5E69-93A9-39FB-D8BB-6B5E5E60D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8CFB4-40ED-412E-908B-FED2E454B5C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24321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22C53-0CDC-BA85-0094-BE52C6091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B4D531-60CF-1B99-A63C-3A7353EA6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19FF3-4D90-4A46-9083-84D7E6FE98AE}" type="datetimeFigureOut">
              <a:rPr lang="en-IN" smtClean="0"/>
              <a:t>04-05-2023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7C7D0C-AD6A-8B4A-1362-163945AF9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97B432-399C-5686-D739-6A3FA250A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8CFB4-40ED-412E-908B-FED2E454B5C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58833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3BEEA6-B71A-9D4B-DE8C-E6FFE98D25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19FF3-4D90-4A46-9083-84D7E6FE98AE}" type="datetimeFigureOut">
              <a:rPr lang="en-IN" smtClean="0"/>
              <a:t>04-05-2023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E37A5A-6421-78B3-88B5-AD6B8750F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4BB524-F941-FE35-F784-EDC371B86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8CFB4-40ED-412E-908B-FED2E454B5C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90800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8C9C9-9FB3-7CDF-1125-2AEAFB631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3A0D5-BA25-B79D-954A-173ADFD21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385969-B9C5-E008-D45D-DB857ABBB3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455AF5-9CB6-9783-FD88-8FDE3E601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19FF3-4D90-4A46-9083-84D7E6FE98AE}" type="datetimeFigureOut">
              <a:rPr lang="en-IN" smtClean="0"/>
              <a:t>04-05-2023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A403D3-2DC8-FACA-2DF6-E78B29EAE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7E6A75-92D2-4776-4204-EF9C482FA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8CFB4-40ED-412E-908B-FED2E454B5C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2156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728E1-6184-0157-7E7D-70818404A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3F38AD-6D2F-9FDA-8031-15FD17347F4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CA6A8F-155C-A4A8-38DC-5E0D2EC19A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E03688-6B54-21D9-9A66-04CEFF8DC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19FF3-4D90-4A46-9083-84D7E6FE98AE}" type="datetimeFigureOut">
              <a:rPr lang="en-IN" smtClean="0"/>
              <a:t>04-05-2023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947B3F-E92F-0F02-1020-4FCF30785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273119-905B-2499-F958-8BE03C57A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8CFB4-40ED-412E-908B-FED2E454B5C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89061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9509B-4099-30F4-06AD-EE2B88DA3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1D8048-5881-2816-55A1-157D843422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1371A5-2AB2-FDCA-7408-53843FEB6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19FF3-4D90-4A46-9083-84D7E6FE98AE}" type="datetimeFigureOut">
              <a:rPr lang="en-IN" smtClean="0"/>
              <a:t>04-05-2023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95AB37-D93C-29AC-2B5A-A055917D7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BB3D6C-D2B1-16D1-8206-3260484DA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8CFB4-40ED-412E-908B-FED2E454B5C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59269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71CF92-9D27-8148-CF18-E27D7DBA69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E4140B-CA08-BDAC-4105-87B3EDA418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B81C4A-6579-E69C-5C73-AE63EEE6C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19FF3-4D90-4A46-9083-84D7E6FE98AE}" type="datetimeFigureOut">
              <a:rPr lang="en-IN" smtClean="0"/>
              <a:t>04-05-2023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F7183E-BEBD-2269-FFF4-D53A22B79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1ABE07-AE43-570F-50DA-081C92110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8CFB4-40ED-412E-908B-FED2E454B5C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70617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46DF93-3912-6C28-609C-D67870E46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D658E6-5F17-4FDA-422E-CE1889ADC3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146AFA-7A74-16C3-65E7-017780ABA3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819FF3-4D90-4A46-9083-84D7E6FE98AE}" type="datetimeFigureOut">
              <a:rPr lang="en-IN" smtClean="0"/>
              <a:t>04-05-2023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DCF31A-EF5D-451E-90C6-A515D6F4F4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59382F-4AB3-113B-AB44-59F8B15119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E8CFB4-40ED-412E-908B-FED2E454B5C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293801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ibyendubiswas1998/Insurance-Premium-Prediction/blob/main/artifacts/Model_Performance_Report/score.json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344702D-C59F-EB2D-78DA-07943566F880}"/>
              </a:ext>
            </a:extLst>
          </p:cNvPr>
          <p:cNvSpPr/>
          <p:nvPr/>
        </p:nvSpPr>
        <p:spPr>
          <a:xfrm>
            <a:off x="4872251" y="2949054"/>
            <a:ext cx="6673755" cy="11179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4000" b="1" dirty="0">
                <a:solidFill>
                  <a:schemeClr val="accent1">
                    <a:lumMod val="50000"/>
                  </a:schemeClr>
                </a:solidFill>
              </a:rPr>
              <a:t>Insurance Premium Prediction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11ED1B-5074-980F-51AB-B08075125C77}"/>
              </a:ext>
            </a:extLst>
          </p:cNvPr>
          <p:cNvSpPr/>
          <p:nvPr/>
        </p:nvSpPr>
        <p:spPr>
          <a:xfrm>
            <a:off x="4872250" y="3821374"/>
            <a:ext cx="6673756" cy="68238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3600" b="1" dirty="0">
                <a:solidFill>
                  <a:schemeClr val="accent1">
                    <a:lumMod val="75000"/>
                  </a:schemeClr>
                </a:solidFill>
              </a:rPr>
              <a:t>Analysis Report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0CD2BE5-27FB-D8FE-A31D-77343D04B09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8040" t="15174" r="17378" b="16187"/>
          <a:stretch/>
        </p:blipFill>
        <p:spPr>
          <a:xfrm>
            <a:off x="1347015" y="2095785"/>
            <a:ext cx="3247311" cy="3451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6893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36C2B12-124C-461C-A904-AAB0DFFA8656}"/>
              </a:ext>
            </a:extLst>
          </p:cNvPr>
          <p:cNvSpPr/>
          <p:nvPr/>
        </p:nvSpPr>
        <p:spPr>
          <a:xfrm>
            <a:off x="6687402" y="5104263"/>
            <a:ext cx="4664943" cy="1221473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Insight:</a:t>
            </a:r>
            <a:endParaRPr lang="en-IN" sz="2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IN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>
                    <a:lumMod val="95000"/>
                    <a:lumOff val="5000"/>
                  </a:schemeClr>
                </a:solidFill>
              </a:rPr>
              <a:t>Male are expenses more i.e., 53.14% compare to Female i.e., 46.86%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5620D7-DFC3-12A3-E092-299D0B9E576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8040" t="15174" r="17378" b="16187"/>
          <a:stretch/>
        </p:blipFill>
        <p:spPr>
          <a:xfrm>
            <a:off x="11352346" y="100154"/>
            <a:ext cx="642077" cy="682387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B30D6106-02DC-D3A5-8026-1B5E2E1D5C5E}"/>
              </a:ext>
            </a:extLst>
          </p:cNvPr>
          <p:cNvGrpSpPr/>
          <p:nvPr/>
        </p:nvGrpSpPr>
        <p:grpSpPr>
          <a:xfrm>
            <a:off x="650543" y="2561678"/>
            <a:ext cx="5773005" cy="1027890"/>
            <a:chOff x="650543" y="1833625"/>
            <a:chExt cx="5773005" cy="102789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D2FE95B-DDE0-62A2-43C9-37DBC7785647}"/>
                </a:ext>
              </a:extLst>
            </p:cNvPr>
            <p:cNvGrpSpPr/>
            <p:nvPr/>
          </p:nvGrpSpPr>
          <p:grpSpPr>
            <a:xfrm>
              <a:off x="650543" y="1833625"/>
              <a:ext cx="3411941" cy="500349"/>
              <a:chOff x="518614" y="782541"/>
              <a:chExt cx="4026089" cy="500349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E254934-7785-2160-FBA4-E7D67C90EE6A}"/>
                  </a:ext>
                </a:extLst>
              </p:cNvPr>
              <p:cNvSpPr/>
              <p:nvPr/>
            </p:nvSpPr>
            <p:spPr>
              <a:xfrm>
                <a:off x="518614" y="782541"/>
                <a:ext cx="4026089" cy="500349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IN" dirty="0">
                    <a:solidFill>
                      <a:schemeClr val="tx1">
                        <a:lumMod val="95000"/>
                        <a:lumOff val="5000"/>
                      </a:schemeClr>
                    </a:solidFill>
                  </a:rPr>
                  <a:t>Male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AEBD66D-520B-8316-2E9B-FB673049839B}"/>
                  </a:ext>
                </a:extLst>
              </p:cNvPr>
              <p:cNvSpPr/>
              <p:nvPr/>
            </p:nvSpPr>
            <p:spPr>
              <a:xfrm>
                <a:off x="2661314" y="782541"/>
                <a:ext cx="1883389" cy="50034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IN" dirty="0">
                    <a:solidFill>
                      <a:schemeClr val="tx1">
                        <a:lumMod val="95000"/>
                        <a:lumOff val="5000"/>
                      </a:schemeClr>
                    </a:solidFill>
                  </a:rPr>
                  <a:t>53.14%</a:t>
                </a:r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6DC0FE3-F85B-21E9-960C-3DE175F71BF4}"/>
                </a:ext>
              </a:extLst>
            </p:cNvPr>
            <p:cNvGrpSpPr/>
            <p:nvPr/>
          </p:nvGrpSpPr>
          <p:grpSpPr>
            <a:xfrm>
              <a:off x="650543" y="1833625"/>
              <a:ext cx="5773005" cy="1027890"/>
              <a:chOff x="650543" y="1833625"/>
              <a:chExt cx="5773005" cy="102789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85E528C-363E-E6DE-B385-B909D65D46AF}"/>
                  </a:ext>
                </a:extLst>
              </p:cNvPr>
              <p:cNvSpPr/>
              <p:nvPr/>
            </p:nvSpPr>
            <p:spPr>
              <a:xfrm>
                <a:off x="650543" y="2333974"/>
                <a:ext cx="5773005" cy="527541"/>
              </a:xfrm>
              <a:prstGeom prst="rect">
                <a:avLst/>
              </a:prstGeom>
              <a:solidFill>
                <a:srgbClr val="FF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IN" dirty="0">
                    <a:solidFill>
                      <a:schemeClr val="tx1">
                        <a:lumMod val="95000"/>
                        <a:lumOff val="5000"/>
                      </a:schemeClr>
                    </a:solidFill>
                  </a:rPr>
                  <a:t>Expenses</a:t>
                </a:r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8154FBFD-7C0B-BD0F-C33F-3394EA34A052}"/>
                  </a:ext>
                </a:extLst>
              </p:cNvPr>
              <p:cNvGrpSpPr/>
              <p:nvPr/>
            </p:nvGrpSpPr>
            <p:grpSpPr>
              <a:xfrm>
                <a:off x="4062484" y="1833625"/>
                <a:ext cx="2361064" cy="1020568"/>
                <a:chOff x="4062484" y="1833625"/>
                <a:chExt cx="2361064" cy="1020568"/>
              </a:xfrm>
            </p:grpSpPr>
            <p:grpSp>
              <p:nvGrpSpPr>
                <p:cNvPr id="10" name="Group 9">
                  <a:extLst>
                    <a:ext uri="{FF2B5EF4-FFF2-40B4-BE49-F238E27FC236}">
                      <a16:creationId xmlns:a16="http://schemas.microsoft.com/office/drawing/2014/main" id="{0FF2648D-7E37-E49D-1CA8-A3BCDC17A442}"/>
                    </a:ext>
                  </a:extLst>
                </p:cNvPr>
                <p:cNvGrpSpPr/>
                <p:nvPr/>
              </p:nvGrpSpPr>
              <p:grpSpPr>
                <a:xfrm>
                  <a:off x="4062484" y="1833625"/>
                  <a:ext cx="2361064" cy="500349"/>
                  <a:chOff x="518614" y="1282890"/>
                  <a:chExt cx="3166282" cy="500349"/>
                </a:xfrm>
              </p:grpSpPr>
              <p:sp>
                <p:nvSpPr>
                  <p:cNvPr id="6" name="Rectangle 5">
                    <a:extLst>
                      <a:ext uri="{FF2B5EF4-FFF2-40B4-BE49-F238E27FC236}">
                        <a16:creationId xmlns:a16="http://schemas.microsoft.com/office/drawing/2014/main" id="{244179E5-F8C4-989C-E258-643517617E4C}"/>
                      </a:ext>
                    </a:extLst>
                  </p:cNvPr>
                  <p:cNvSpPr/>
                  <p:nvPr/>
                </p:nvSpPr>
                <p:spPr>
                  <a:xfrm>
                    <a:off x="518614" y="1282890"/>
                    <a:ext cx="3166282" cy="500349"/>
                  </a:xfrm>
                  <a:prstGeom prst="rect">
                    <a:avLst/>
                  </a:prstGeom>
                  <a:solidFill>
                    <a:srgbClr val="00B0F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en-IN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</a:rPr>
                      <a:t>Female</a:t>
                    </a:r>
                  </a:p>
                </p:txBody>
              </p:sp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63EBE73F-DEEB-0CC1-1123-16E9AB2983FA}"/>
                      </a:ext>
                    </a:extLst>
                  </p:cNvPr>
                  <p:cNvSpPr/>
                  <p:nvPr/>
                </p:nvSpPr>
                <p:spPr>
                  <a:xfrm>
                    <a:off x="2279176" y="1282890"/>
                    <a:ext cx="1405720" cy="500349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r"/>
                    <a:r>
                      <a:rPr lang="en-IN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</a:rPr>
                      <a:t>46.86%</a:t>
                    </a:r>
                  </a:p>
                </p:txBody>
              </p:sp>
            </p:grpSp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FCBCAB1A-3777-D6A7-1642-F52691485B04}"/>
                    </a:ext>
                  </a:extLst>
                </p:cNvPr>
                <p:cNvSpPr/>
                <p:nvPr/>
              </p:nvSpPr>
              <p:spPr>
                <a:xfrm>
                  <a:off x="4260376" y="2333975"/>
                  <a:ext cx="2163172" cy="520218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r"/>
                  <a:r>
                    <a:rPr lang="en-IN" dirty="0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</a:rPr>
                    <a:t>17.76M</a:t>
                  </a:r>
                </a:p>
              </p:txBody>
            </p:sp>
          </p:grpSp>
        </p:grp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55E5B34E-3D46-EFF8-E580-9C453DE32BE9}"/>
              </a:ext>
            </a:extLst>
          </p:cNvPr>
          <p:cNvSpPr/>
          <p:nvPr/>
        </p:nvSpPr>
        <p:spPr>
          <a:xfrm>
            <a:off x="650543" y="532265"/>
            <a:ext cx="10062950" cy="5868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2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Expenses by Gender (Male &amp; Female):</a:t>
            </a:r>
          </a:p>
        </p:txBody>
      </p:sp>
    </p:spTree>
    <p:extLst>
      <p:ext uri="{BB962C8B-B14F-4D97-AF65-F5344CB8AC3E}">
        <p14:creationId xmlns:p14="http://schemas.microsoft.com/office/powerpoint/2010/main" val="4125013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C5620D7-DFC3-12A3-E092-299D0B9E576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8040" t="15174" r="17378" b="16187"/>
          <a:stretch/>
        </p:blipFill>
        <p:spPr>
          <a:xfrm>
            <a:off x="11352346" y="100154"/>
            <a:ext cx="642077" cy="682387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329939F3-C362-090E-C317-446A2E6EE026}"/>
              </a:ext>
            </a:extLst>
          </p:cNvPr>
          <p:cNvGrpSpPr/>
          <p:nvPr/>
        </p:nvGrpSpPr>
        <p:grpSpPr>
          <a:xfrm>
            <a:off x="650543" y="1860641"/>
            <a:ext cx="5349923" cy="4465095"/>
            <a:chOff x="518614" y="1405716"/>
            <a:chExt cx="5349923" cy="446509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B8F4B10-9D72-1841-72B1-E79530C6AE63}"/>
                </a:ext>
              </a:extLst>
            </p:cNvPr>
            <p:cNvSpPr/>
            <p:nvPr/>
          </p:nvSpPr>
          <p:spPr>
            <a:xfrm>
              <a:off x="518614" y="1405718"/>
              <a:ext cx="2320120" cy="271590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4640059-3A8A-1EA6-6793-B8F84E7917EB}"/>
                </a:ext>
              </a:extLst>
            </p:cNvPr>
            <p:cNvSpPr/>
            <p:nvPr/>
          </p:nvSpPr>
          <p:spPr>
            <a:xfrm>
              <a:off x="518614" y="4121623"/>
              <a:ext cx="2320120" cy="1749188"/>
            </a:xfrm>
            <a:prstGeom prst="rect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DABF021A-B176-340B-324A-35F8CCCC4E32}"/>
                </a:ext>
              </a:extLst>
            </p:cNvPr>
            <p:cNvSpPr/>
            <p:nvPr/>
          </p:nvSpPr>
          <p:spPr>
            <a:xfrm>
              <a:off x="2838734" y="1405717"/>
              <a:ext cx="1663416" cy="315263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55D1064-8245-0B87-4A5F-2188616BE2C2}"/>
                </a:ext>
              </a:extLst>
            </p:cNvPr>
            <p:cNvSpPr/>
            <p:nvPr/>
          </p:nvSpPr>
          <p:spPr>
            <a:xfrm>
              <a:off x="4502150" y="1405716"/>
              <a:ext cx="1366387" cy="3152635"/>
            </a:xfrm>
            <a:prstGeom prst="rect">
              <a:avLst/>
            </a:prstGeom>
            <a:solidFill>
              <a:srgbClr val="003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9F996CF-9A2E-2E57-044F-3813995CA6E9}"/>
                </a:ext>
              </a:extLst>
            </p:cNvPr>
            <p:cNvSpPr/>
            <p:nvPr/>
          </p:nvSpPr>
          <p:spPr>
            <a:xfrm>
              <a:off x="2838734" y="4558351"/>
              <a:ext cx="2047165" cy="1312460"/>
            </a:xfrm>
            <a:prstGeom prst="rect">
              <a:avLst/>
            </a:prstGeom>
            <a:solidFill>
              <a:srgbClr val="00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B4723D0-62C4-28B0-A054-3BE7638DF7D4}"/>
                </a:ext>
              </a:extLst>
            </p:cNvPr>
            <p:cNvSpPr/>
            <p:nvPr/>
          </p:nvSpPr>
          <p:spPr>
            <a:xfrm>
              <a:off x="4885899" y="4558350"/>
              <a:ext cx="982638" cy="1312460"/>
            </a:xfrm>
            <a:prstGeom prst="rect">
              <a:avLst/>
            </a:prstGeom>
            <a:solidFill>
              <a:srgbClr val="FF5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15010AFA-F55C-9DD8-A851-57AF61B9F960}"/>
              </a:ext>
            </a:extLst>
          </p:cNvPr>
          <p:cNvSpPr/>
          <p:nvPr/>
        </p:nvSpPr>
        <p:spPr>
          <a:xfrm>
            <a:off x="6687402" y="5104263"/>
            <a:ext cx="4664943" cy="1221473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Insight:</a:t>
            </a:r>
            <a:endParaRPr lang="en-IN" sz="2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IN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>
                    <a:lumMod val="95000"/>
                    <a:lumOff val="5000"/>
                  </a:schemeClr>
                </a:solidFill>
              </a:rPr>
              <a:t>In 50-60 years age group expense more compare to 30-40 &amp; 20-30 years age group.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4FE346B-15C9-FB33-57BB-DC2D7F3846BE}"/>
              </a:ext>
            </a:extLst>
          </p:cNvPr>
          <p:cNvSpPr/>
          <p:nvPr/>
        </p:nvSpPr>
        <p:spPr>
          <a:xfrm>
            <a:off x="650542" y="532265"/>
            <a:ext cx="10062951" cy="5868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2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Expenses by Age Group: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818E1A3-D0C8-B27F-01FD-621CFB60AB37}"/>
              </a:ext>
            </a:extLst>
          </p:cNvPr>
          <p:cNvSpPr/>
          <p:nvPr/>
        </p:nvSpPr>
        <p:spPr>
          <a:xfrm>
            <a:off x="650543" y="1878126"/>
            <a:ext cx="1366387" cy="4355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50 to 60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27AAB36-D603-8C38-782A-1AB968377E15}"/>
              </a:ext>
            </a:extLst>
          </p:cNvPr>
          <p:cNvSpPr/>
          <p:nvPr/>
        </p:nvSpPr>
        <p:spPr>
          <a:xfrm>
            <a:off x="650542" y="4632731"/>
            <a:ext cx="1366387" cy="4355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40 to 50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6E58ECE-9EBE-2DE4-4360-BD8513854461}"/>
              </a:ext>
            </a:extLst>
          </p:cNvPr>
          <p:cNvSpPr/>
          <p:nvPr/>
        </p:nvSpPr>
        <p:spPr>
          <a:xfrm>
            <a:off x="4634079" y="1858373"/>
            <a:ext cx="1366386" cy="5101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20 to 30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9AD8A1B-DAE5-D1DA-6D12-9B56A0E87E5F}"/>
              </a:ext>
            </a:extLst>
          </p:cNvPr>
          <p:cNvSpPr/>
          <p:nvPr/>
        </p:nvSpPr>
        <p:spPr>
          <a:xfrm>
            <a:off x="2970663" y="1858373"/>
            <a:ext cx="1366386" cy="47224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30 to 40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B4D5EF1-836C-B84D-DF5D-5D0F0811E604}"/>
              </a:ext>
            </a:extLst>
          </p:cNvPr>
          <p:cNvSpPr/>
          <p:nvPr/>
        </p:nvSpPr>
        <p:spPr>
          <a:xfrm>
            <a:off x="2970662" y="5013275"/>
            <a:ext cx="1360229" cy="4355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Above 60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3BB2DE6-70EB-981B-0567-CDF9A3033CE1}"/>
              </a:ext>
            </a:extLst>
          </p:cNvPr>
          <p:cNvSpPr/>
          <p:nvPr/>
        </p:nvSpPr>
        <p:spPr>
          <a:xfrm>
            <a:off x="5017828" y="5013274"/>
            <a:ext cx="976480" cy="4355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Below 20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9378D45-7935-90D6-2212-E8E53559C9F3}"/>
              </a:ext>
            </a:extLst>
          </p:cNvPr>
          <p:cNvSpPr/>
          <p:nvPr/>
        </p:nvSpPr>
        <p:spPr>
          <a:xfrm>
            <a:off x="2102209" y="4202780"/>
            <a:ext cx="868454" cy="3737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4.47M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CAA602E-50D8-99C2-00BD-AF22A6718836}"/>
              </a:ext>
            </a:extLst>
          </p:cNvPr>
          <p:cNvSpPr/>
          <p:nvPr/>
        </p:nvSpPr>
        <p:spPr>
          <a:xfrm>
            <a:off x="2102209" y="5963442"/>
            <a:ext cx="868453" cy="3622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4.02M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A856806-7033-BD39-198A-B7C3E63FC57B}"/>
              </a:ext>
            </a:extLst>
          </p:cNvPr>
          <p:cNvSpPr/>
          <p:nvPr/>
        </p:nvSpPr>
        <p:spPr>
          <a:xfrm>
            <a:off x="4281017" y="6002891"/>
            <a:ext cx="736810" cy="3228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2.42M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AA567EA-06C1-A6D4-F296-6B48F8F4E683}"/>
              </a:ext>
            </a:extLst>
          </p:cNvPr>
          <p:cNvSpPr/>
          <p:nvPr/>
        </p:nvSpPr>
        <p:spPr>
          <a:xfrm>
            <a:off x="5160901" y="4632730"/>
            <a:ext cx="833407" cy="3805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2.68M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4DF7F63-DE83-C525-D06C-5301BD30B5AD}"/>
              </a:ext>
            </a:extLst>
          </p:cNvPr>
          <p:cNvSpPr/>
          <p:nvPr/>
        </p:nvSpPr>
        <p:spPr>
          <a:xfrm>
            <a:off x="5241924" y="6026723"/>
            <a:ext cx="752383" cy="2990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1.15M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D68866A-D44D-4A32-E00F-CD9A2879C6BB}"/>
              </a:ext>
            </a:extLst>
          </p:cNvPr>
          <p:cNvSpPr/>
          <p:nvPr/>
        </p:nvSpPr>
        <p:spPr>
          <a:xfrm>
            <a:off x="3740987" y="4639978"/>
            <a:ext cx="893092" cy="373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3.02M</a:t>
            </a:r>
          </a:p>
        </p:txBody>
      </p:sp>
    </p:spTree>
    <p:extLst>
      <p:ext uri="{BB962C8B-B14F-4D97-AF65-F5344CB8AC3E}">
        <p14:creationId xmlns:p14="http://schemas.microsoft.com/office/powerpoint/2010/main" val="11332852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C5620D7-DFC3-12A3-E092-299D0B9E576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8040" t="15174" r="17378" b="16187"/>
          <a:stretch/>
        </p:blipFill>
        <p:spPr>
          <a:xfrm>
            <a:off x="11352346" y="100154"/>
            <a:ext cx="642077" cy="682387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F646111-1C7E-D0B5-9AC1-731C044827EA}"/>
              </a:ext>
            </a:extLst>
          </p:cNvPr>
          <p:cNvSpPr/>
          <p:nvPr/>
        </p:nvSpPr>
        <p:spPr>
          <a:xfrm>
            <a:off x="6687402" y="5104263"/>
            <a:ext cx="4664943" cy="1221473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Insight:</a:t>
            </a:r>
            <a:endParaRPr lang="en-IN" sz="2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IN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>
                    <a:lumMod val="95000"/>
                    <a:lumOff val="5000"/>
                  </a:schemeClr>
                </a:solidFill>
              </a:rPr>
              <a:t>Almost all regions people expenses equally, but southeast compare to more, i.e., 30.21%.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91AEAA-EFAA-4997-F625-9A77A59F2FCD}"/>
              </a:ext>
            </a:extLst>
          </p:cNvPr>
          <p:cNvSpPr/>
          <p:nvPr/>
        </p:nvSpPr>
        <p:spPr>
          <a:xfrm>
            <a:off x="650543" y="532265"/>
            <a:ext cx="10062950" cy="5868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2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Expenses by Region: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77C04F9-3A96-A7CF-9FA6-63A4B2C1C5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543" y="1589657"/>
            <a:ext cx="6036859" cy="3210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1222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C5620D7-DFC3-12A3-E092-299D0B9E576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8040" t="15174" r="17378" b="16187"/>
          <a:stretch/>
        </p:blipFill>
        <p:spPr>
          <a:xfrm>
            <a:off x="11352346" y="100154"/>
            <a:ext cx="642077" cy="682387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F646111-1C7E-D0B5-9AC1-731C044827EA}"/>
              </a:ext>
            </a:extLst>
          </p:cNvPr>
          <p:cNvSpPr/>
          <p:nvPr/>
        </p:nvSpPr>
        <p:spPr>
          <a:xfrm>
            <a:off x="6687402" y="5104263"/>
            <a:ext cx="4664943" cy="1221473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Insight:</a:t>
            </a:r>
            <a:endParaRPr lang="en-IN" sz="2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IN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>
                    <a:lumMod val="95000"/>
                    <a:lumOff val="5000"/>
                  </a:schemeClr>
                </a:solidFill>
              </a:rPr>
              <a:t>Age wise expenses ratio is flatulate, not an increasing order over age.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91AEAA-EFAA-4997-F625-9A77A59F2FCD}"/>
              </a:ext>
            </a:extLst>
          </p:cNvPr>
          <p:cNvSpPr/>
          <p:nvPr/>
        </p:nvSpPr>
        <p:spPr>
          <a:xfrm>
            <a:off x="650543" y="532265"/>
            <a:ext cx="10062950" cy="5868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2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Expenses by Age: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271FFA-F7FD-7915-8808-D9E3E8C478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543" y="1357456"/>
            <a:ext cx="8848300" cy="3487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4369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C5620D7-DFC3-12A3-E092-299D0B9E576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8040" t="15174" r="17378" b="16187"/>
          <a:stretch/>
        </p:blipFill>
        <p:spPr>
          <a:xfrm>
            <a:off x="11352346" y="100154"/>
            <a:ext cx="642077" cy="682387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F646111-1C7E-D0B5-9AC1-731C044827EA}"/>
              </a:ext>
            </a:extLst>
          </p:cNvPr>
          <p:cNvSpPr/>
          <p:nvPr/>
        </p:nvSpPr>
        <p:spPr>
          <a:xfrm>
            <a:off x="6687402" y="5104263"/>
            <a:ext cx="4664943" cy="1221473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Insight:</a:t>
            </a:r>
            <a:endParaRPr lang="en-IN" sz="2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IN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>
                    <a:lumMod val="95000"/>
                    <a:lumOff val="5000"/>
                  </a:schemeClr>
                </a:solidFill>
              </a:rPr>
              <a:t>When number of children of a person increase then expenses also decrease.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91AEAA-EFAA-4997-F625-9A77A59F2FCD}"/>
              </a:ext>
            </a:extLst>
          </p:cNvPr>
          <p:cNvSpPr/>
          <p:nvPr/>
        </p:nvSpPr>
        <p:spPr>
          <a:xfrm>
            <a:off x="650543" y="532265"/>
            <a:ext cx="10062950" cy="5868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2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Expenses by Children: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F99EAD-1C18-8EB2-612B-524BF79CAF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543" y="1458738"/>
            <a:ext cx="8834651" cy="3351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6142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C5620D7-DFC3-12A3-E092-299D0B9E576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8040" t="15174" r="17378" b="16187"/>
          <a:stretch/>
        </p:blipFill>
        <p:spPr>
          <a:xfrm>
            <a:off x="11352346" y="100154"/>
            <a:ext cx="642077" cy="682387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F646111-1C7E-D0B5-9AC1-731C044827EA}"/>
              </a:ext>
            </a:extLst>
          </p:cNvPr>
          <p:cNvSpPr/>
          <p:nvPr/>
        </p:nvSpPr>
        <p:spPr>
          <a:xfrm>
            <a:off x="650544" y="1337482"/>
            <a:ext cx="4235356" cy="4988254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>
                    <a:lumMod val="95000"/>
                    <a:lumOff val="5000"/>
                  </a:schemeClr>
                </a:solidFill>
              </a:rPr>
              <a:t>In this project there is no such more linear relationship between independent features and dependent feature, so we use there ML algorithms to build the model, i.e.,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>
                    <a:lumMod val="95000"/>
                    <a:lumOff val="5000"/>
                  </a:schemeClr>
                </a:solidFill>
              </a:rPr>
              <a:t>RandomForestRegressor,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>
                    <a:lumMod val="95000"/>
                    <a:lumOff val="5000"/>
                  </a:schemeClr>
                </a:solidFill>
              </a:rPr>
              <a:t>SupportVectorRegressor (SVR), and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>
                    <a:lumMod val="95000"/>
                    <a:lumOff val="5000"/>
                  </a:schemeClr>
                </a:solidFill>
              </a:rPr>
              <a:t>GradientBoostingRegressor.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>
                    <a:lumMod val="95000"/>
                    <a:lumOff val="5000"/>
                  </a:schemeClr>
                </a:solidFill>
              </a:rPr>
              <a:t>Here, we select GradientBoostingRegressor algorithm based on performance matrix. </a:t>
            </a:r>
            <a:br>
              <a:rPr lang="en-IN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en-IN" dirty="0">
                <a:solidFill>
                  <a:schemeClr val="tx1">
                    <a:lumMod val="95000"/>
                    <a:lumOff val="5000"/>
                  </a:schemeClr>
                </a:solidFill>
                <a:hlinkClick r:id="rId3"/>
              </a:rPr>
              <a:t>Matrix Link</a:t>
            </a:r>
            <a:r>
              <a:rPr lang="en-IN" dirty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IN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>
                    <a:lumMod val="95000"/>
                    <a:lumOff val="5000"/>
                  </a:schemeClr>
                </a:solidFill>
              </a:rPr>
              <a:t>After that create a web app for predict the expenses based on new test data.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91AEAA-EFAA-4997-F625-9A77A59F2FCD}"/>
              </a:ext>
            </a:extLst>
          </p:cNvPr>
          <p:cNvSpPr/>
          <p:nvPr/>
        </p:nvSpPr>
        <p:spPr>
          <a:xfrm>
            <a:off x="650543" y="532265"/>
            <a:ext cx="10062950" cy="5868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2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Build  Machine Learning Model for Prediction: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E4DDF4-78F2-2670-ADF5-4511E62522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6103" y="1337482"/>
            <a:ext cx="3139484" cy="4988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72025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D741F70-5C03-C544-670B-E915E49F39E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8040" t="15174" r="17378" b="16187"/>
          <a:stretch/>
        </p:blipFill>
        <p:spPr>
          <a:xfrm>
            <a:off x="11352346" y="100154"/>
            <a:ext cx="642077" cy="682387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0A41F1D5-4CD2-30F6-5607-C3927C188F55}"/>
              </a:ext>
            </a:extLst>
          </p:cNvPr>
          <p:cNvGrpSpPr/>
          <p:nvPr/>
        </p:nvGrpSpPr>
        <p:grpSpPr>
          <a:xfrm>
            <a:off x="2438400" y="782541"/>
            <a:ext cx="9753600" cy="6075458"/>
            <a:chOff x="2438400" y="782541"/>
            <a:chExt cx="9753600" cy="607545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BB81B18-F3C0-3D20-CE66-A84F773989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38400" y="782541"/>
              <a:ext cx="9753600" cy="5808474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9E828F2-2862-DCDE-80CE-F6FEFDBC98CB}"/>
                </a:ext>
              </a:extLst>
            </p:cNvPr>
            <p:cNvSpPr/>
            <p:nvPr/>
          </p:nvSpPr>
          <p:spPr>
            <a:xfrm>
              <a:off x="8461612" y="6075458"/>
              <a:ext cx="3730388" cy="78254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IN" sz="3200" b="1" dirty="0">
                  <a:solidFill>
                    <a:schemeClr val="accent1">
                      <a:lumMod val="50000"/>
                    </a:schemeClr>
                  </a:solidFill>
                </a:rPr>
                <a:t>-by Dibyendu Biswas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492621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234</Words>
  <Application>Microsoft Office PowerPoint</Application>
  <PresentationFormat>Widescreen</PresentationFormat>
  <Paragraphs>52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Dibyendu</dc:creator>
  <cp:lastModifiedBy>Dibyendu</cp:lastModifiedBy>
  <cp:revision>55</cp:revision>
  <dcterms:created xsi:type="dcterms:W3CDTF">2023-05-04T14:02:13Z</dcterms:created>
  <dcterms:modified xsi:type="dcterms:W3CDTF">2023-05-04T15:50:07Z</dcterms:modified>
</cp:coreProperties>
</file>